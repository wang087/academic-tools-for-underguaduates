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3" r:id="rId4"/>
    <p:sldId id="270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9" r:id="rId13"/>
    <p:sldId id="272" r:id="rId14"/>
    <p:sldId id="274" r:id="rId15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大家好，今天我用二十分钟介绍一个我们自己做的项目：流程1。一句话概括就是封面这句——一句话，走到科研门口。</a:t>
            </a:r>
          </a:p>
          <a:p>
            <a:endParaRPr lang="zh-CN" dirty="0"/>
          </a:p>
          <a:p>
            <a:r>
              <a:rPr lang="zh-CN" dirty="0"/>
              <a:t>它要解决的问题很具体：一个本科生想做科研，脑子里只有一句很口语的话，比如"我想做个跟阿尔茨海默有关的项目"。但这句话拿去做检索是没法用的。这个项目做的事，就是把这句话一步一步变成三份能直接用的材料：一份可以联系导师的名单、一份可以直接引用的优质综述清单、还有一份看得懂的领域概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先说清楚我们到底为谁做这件事。本科生做科研，真正卡住的地方其实只有三个。</a:t>
            </a:r>
          </a:p>
          <a:p>
            <a:endParaRPr lang="zh-CN" dirty="0"/>
          </a:p>
          <a:p>
            <a:r>
              <a:rPr lang="zh-CN" dirty="0"/>
              <a:t>第一是选题：大创、国创、校创要报题目，但"想做个跟阿尔茨海默有关的项目"这句话，落不到任何一个可以检索的关键词上。第二是找导师：学生知道自己对什么感兴趣，却不知道这个学部里谁在做这个方向，只能靠打听。第三是课程作业：要写一篇综述，需要几篇权威文献，但常常既不知道去哪找，也拿不到付费文献。</a:t>
            </a:r>
          </a:p>
          <a:p>
            <a:endParaRPr lang="zh-CN" dirty="0"/>
          </a:p>
          <a:p>
            <a:r>
              <a:rPr lang="zh-CN" dirty="0"/>
              <a:t>这三件事看起来是三件事，其实卡在同一个位置——我在页面底部写了这句话：用户说的是"想做什么"，检索要的却是"去哪个领域、用哪些词找"。这两个是两套坐标系，中间缺一次翻译。整条流程的核心，其实就是补上这一次翻译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讲边界。这一页想说清楚"我们不做什么"。</a:t>
            </a:r>
          </a:p>
          <a:p>
            <a:endParaRPr lang="zh-CN" dirty="0"/>
          </a:p>
          <a:p>
            <a:r>
              <a:rPr lang="zh-CN" dirty="0"/>
              <a:t>适用的是四类场景：本科生进实验室选导师、大创选题、课程综述类文献查找与写作、以及锁定某位作者之后的成果分析。</a:t>
            </a:r>
          </a:p>
          <a:p>
            <a:endParaRPr lang="zh-CN" dirty="0"/>
          </a:p>
          <a:p>
            <a:r>
              <a:rPr lang="zh-CN" dirty="0"/>
              <a:t>不适用的也是四类，我觉得这几条比适用清单更重要：不要把摘要级的结论当成全文结论；不要把关键词粗分类当成权威学科划分；不要用自动化手段去绕过人机验证；不要把被上限截断的结果说成完整结果。</a:t>
            </a:r>
          </a:p>
          <a:p>
            <a:endParaRPr lang="zh-CN" dirty="0"/>
          </a:p>
          <a:p>
            <a:r>
              <a:rPr lang="zh-CN" dirty="0"/>
              <a:t>前置条件是 Windows 加 Edge、Python 通过 uv 运行不需要预装依赖、全文获取需要真实浏览器实例。机构订阅的内容我们明确交给人工或机构渠道。</a:t>
            </a:r>
          </a:p>
          <a:p>
            <a:endParaRPr lang="zh-CN" dirty="0"/>
          </a:p>
          <a:p>
            <a:r>
              <a:rPr lang="zh-CN" dirty="0"/>
              <a:t>页脚那句话是这套东西的立场：先让本科生看得懂，再谈自动化。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这一页回答一个很实际的问题：读完综述，然后呢？</a:t>
            </a:r>
          </a:p>
          <a:p>
            <a:endParaRPr lang="zh-CN" dirty="0"/>
          </a:p>
          <a:p>
            <a:r>
              <a:rPr lang="zh-CN" dirty="0"/>
              <a:t>我们的判断写在标题下面：最适合大创的题目，往往就写在综述的"仍未解决"那一节里。所以流程把它单独提炼出来，形成一条漏斗：读到的结论和争议，收窄到仍未解决的问题，再收窄到可以做的切入点。</a:t>
            </a:r>
          </a:p>
          <a:p>
            <a:endParaRPr lang="zh-CN" dirty="0"/>
          </a:p>
          <a:p>
            <a:r>
              <a:rPr lang="zh-CN" dirty="0"/>
              <a:t>为什么这样就够用？因为本科生不需要自己想出一个全新的科学问题——那是博士阶段的事。更现实的做法是：先进入一个已经有共识与争议的框架，在里面选一个做得完的小问题。</a:t>
            </a:r>
          </a:p>
          <a:p>
            <a:endParaRPr lang="zh-CN" dirty="0"/>
          </a:p>
          <a:p>
            <a:r>
              <a:rPr lang="zh-CN" dirty="0"/>
              <a:t>而且这里形成了一个闭环：前半段给了方向与导师名单，后半段给了这个方向的共识与争议，两者对齐，就能写出一封说得清来意的联系邮件，或者一份开题报告。</a:t>
            </a:r>
          </a:p>
          <a:p>
            <a:endParaRPr lang="zh-CN" dirty="0"/>
          </a:p>
          <a:p>
            <a:r>
              <a:rPr lang="zh-CN" dirty="0"/>
              <a:t>这一段是本科入门链路的终点，也是深挖链路的起点。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这一次翻译是怎么做的？分两段。</a:t>
            </a:r>
          </a:p>
          <a:p>
            <a:endParaRPr lang="zh-CN" dirty="0"/>
          </a:p>
          <a:p>
            <a:r>
              <a:rPr lang="zh-CN" dirty="0"/>
              <a:t>左边是输入，还是一句口语意向。中间拆成两类词：主题词从用户的话里直接来，做同义扩展——"阿尔茨海默"要扩成"阿尔茨海默病、老年痴呆、AD、dementia"，因为这些写法在数据库里是不同条目；方法词则要去查一张已有的方法总表，问的问题是"做这个主题会用到什么方法"，比如生物标志物、影像、机器学习。</a:t>
            </a:r>
          </a:p>
          <a:p>
            <a:endParaRPr lang="zh-CN" dirty="0"/>
          </a:p>
          <a:p>
            <a:r>
              <a:rPr lang="zh-CN" dirty="0"/>
              <a:t>为什么必须分两段？因为总表是按研究手段切的，不是按疾病或主题切的。拿"阿尔茨海默"去总表里搜，一个都命中不了。这不是总表做得不好，是两套坐标系本来就是正交的。</a:t>
            </a:r>
          </a:p>
          <a:p>
            <a:endParaRPr lang="zh-CN" dirty="0"/>
          </a:p>
          <a:p>
            <a:r>
              <a:rPr lang="zh-CN" dirty="0"/>
              <a:t>右边是输出：一条可以直接交给检索阶段的检索式，中英双语。主题词负责找对领域，方法词负责过滤到方法匹配的文献，两个合起来才是完整的检索词。这一步做完，我们就不用再问用户任何问题了。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这是整条链路的地图，请重点记住一件事：有两条链路，按需接入。</a:t>
            </a:r>
          </a:p>
          <a:p>
            <a:endParaRPr lang="zh-CN" dirty="0"/>
          </a:p>
          <a:p>
            <a:r>
              <a:rPr lang="zh-CN" dirty="0"/>
              <a:t>上面这条是前置链路，四个阶段：N 定方向、S 找导师、R 找综述、R2 读概貌。本科生入门场景通常走到这里就可以交付了——拿到方向、名单、清单和概貌。</a:t>
            </a:r>
          </a:p>
          <a:p>
            <a:endParaRPr lang="zh-CN" dirty="0"/>
          </a:p>
          <a:p>
            <a:r>
              <a:rPr lang="zh-CN" dirty="0"/>
              <a:t>下面这条是原有链路，从阶段 0 一直到收尾，一共十几个阶段。什么时候接上它？当用户已经锁定某位老师、想深挖这位老师的全部成果时。它不是"再查一遍文献"，而是围绕一位作者做完核实、获取、解读、成稿。</a:t>
            </a:r>
          </a:p>
          <a:p>
            <a:endParaRPr lang="zh-CN" dirty="0"/>
          </a:p>
          <a:p>
            <a:r>
              <a:rPr lang="zh-CN" dirty="0"/>
              <a:t>需要说明的是：这两条链路不是必须都跑。默认只跑上面那条；下面这条是用户点名了某位老师才接上。页脚那句话很重要——每个阶段都有独立闸门，没开启的环节不会执行，依赖上游的环节会自动跳过。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先说阶段 N。它的特点是全程不需要跟用户交互。</a:t>
            </a:r>
          </a:p>
          <a:p>
            <a:endParaRPr lang="zh-CN" dirty="0"/>
          </a:p>
          <a:p>
            <a:r>
              <a:rPr lang="zh-CN" dirty="0"/>
              <a:t>四步：解析输入，把用户那句话拆成学校、学部、主题、层次四个字段；拆主题词，做同义扩展；查方法词，去方法总表里找；最后落盘成一份计划文件。做完直接进下一阶段，不打断用户。</a:t>
            </a:r>
          </a:p>
          <a:p>
            <a:endParaRPr lang="zh-CN" dirty="0"/>
          </a:p>
          <a:p>
            <a:r>
              <a:rPr lang="zh-CN" dirty="0"/>
              <a:t>为什么可以不问？因为用户该说的已经在那句话里了，剩下的是一次翻译工作，不需要用户做决定。</a:t>
            </a:r>
          </a:p>
          <a:p>
            <a:endParaRPr lang="zh-CN" dirty="0"/>
          </a:p>
          <a:p>
            <a:r>
              <a:rPr lang="zh-CN" dirty="0"/>
              <a:t>下面这条是本页最关键的认知：总表是"方法"分类，不是"主题"索引。我们实测过，拿"阿尔茨海默""早期诊断""生物标志物"去搜，一个都命中不了。所以正确的做法是分两段取词——主题词从用户输入来，方法词才去总表查，两段合起来产出中英双语的检索词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阶段 S 是整条流程里唯一必须停下来等用户的地方，因为它决定后面所有检索的方向。</a:t>
            </a:r>
          </a:p>
          <a:p>
            <a:endParaRPr lang="zh-CN" dirty="0"/>
          </a:p>
          <a:p>
            <a:r>
              <a:rPr lang="zh-CN" dirty="0"/>
              <a:t>做法是从学部官网抓师资页，然后按方向归类，呈现给用户选。页面上这几行是示例节选：免疫与感染 40 人、神经与脑科学 22 人、生物信息与计算 22 人。</a:t>
            </a:r>
          </a:p>
          <a:p>
            <a:endParaRPr lang="zh-CN" dirty="0"/>
          </a:p>
          <a:p>
            <a:r>
              <a:rPr lang="zh-CN" dirty="0"/>
              <a:t>这里有两个值得说的判断。第一，为什么只认学部官网、不用学校教师主页系统？因为主页系统只登记已经在里面维护了主页的老师，覆盖面不全；而且大量页面根本没有"研究方向"这一栏。学部官网由学院自己维护，方向、邮箱、职称常常直接写在列表页上，新鲜度更好。</a:t>
            </a:r>
          </a:p>
          <a:p>
            <a:endParaRPr lang="zh-CN" dirty="0"/>
          </a:p>
          <a:p>
            <a:r>
              <a:rPr lang="zh-CN" dirty="0"/>
              <a:t>第二，诚实性。归类是按关键词的粗分类，不是权威学科划分，一位老师可能同时出现在多个方向下；页面确实没有那个栏位，我们就如实标注"页面无该栏位"，绝不用印象补全。报告里保留每位老师的主页原文和链接，用户完全可以自己核对。</a:t>
            </a:r>
          </a:p>
          <a:p>
            <a:endParaRPr lang="zh-CN" dirty="0"/>
          </a:p>
          <a:p>
            <a:r>
              <a:rPr lang="zh-CN" dirty="0"/>
              <a:t>所以这一步必须停下等用户选定方向，再进下一阶段。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阶段 R 是找综述。这里最重要的一条结论写在标题里：库要按方向选，综述优先。</a:t>
            </a:r>
          </a:p>
          <a:p>
            <a:endParaRPr lang="zh-CN" dirty="0"/>
          </a:p>
          <a:p>
            <a:r>
              <a:rPr lang="zh-CN" dirty="0"/>
              <a:t>我们一开始的做法是三个库都跑一遍，觉得这样最保险。实测下来是错的。拿"免疫与感染"这个方向去查 arXiv，返回的 24 条里绝大多数是计算机领域的同名同形词——入侵检测、程序验证那种，对湿实验免疫学完全没用。反过来，给"机器学习"只查医学库，又几乎命中不到预印本方法学论文。所以正确的做法是按方向路由：免疫这类只跑 Europe PMC，机器学习跑 arXiv，生物信息学这种两边都要。</a:t>
            </a:r>
          </a:p>
          <a:p>
            <a:endParaRPr lang="zh-CN" dirty="0"/>
          </a:p>
          <a:p>
            <a:r>
              <a:rPr lang="zh-CN" dirty="0"/>
              <a:t>右边是筛选项：类型上综述、系统综述、meta 分析优先；再看影响力和时效，近三到五年优先，经典奠基性综述可以放宽；开放获取优先，因为本科生常常访问不了付费文献。数量六到十二篇为宜——少于六篇覆盖不全，多于十二篇本科生读不完。</a:t>
            </a:r>
          </a:p>
          <a:p>
            <a:endParaRPr lang="zh-CN" dirty="0"/>
          </a:p>
          <a:p>
            <a:r>
              <a:rPr lang="zh-CN" dirty="0"/>
              <a:t>最后一行的诚实性要求：如果结果是被数量上限截断的，交付时必须说明这是部分结果，不能把十二篇说成"该领域全部综述"。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如果用户已经锁定了一位老师，就从阶段 0 接上原有链路。这一页是它的全貌。</a:t>
            </a:r>
          </a:p>
          <a:p>
            <a:endParaRPr lang="zh-CN" dirty="0"/>
          </a:p>
          <a:p>
            <a:r>
              <a:rPr lang="zh-CN" dirty="0"/>
              <a:t>六个阶段组：准备、定位与抓取、核实与消歧、获取与转化、成稿、图谱与交付。</a:t>
            </a:r>
          </a:p>
          <a:p>
            <a:endParaRPr lang="zh-CN" dirty="0"/>
          </a:p>
          <a:p>
            <a:r>
              <a:rPr lang="zh-CN" dirty="0"/>
              <a:t>请记住这一页的那句话：它不是"再查一遍文献"，而是围绕一位作者做完核实、获取、解读、成稿。范围不一样——这里要处理的是这位作者的全部成果，以及他背后站着的整个研究方向。</a:t>
            </a:r>
          </a:p>
          <a:p>
            <a:endParaRPr lang="zh-CN" dirty="0"/>
          </a:p>
          <a:p>
            <a:r>
              <a:rPr lang="zh-CN" dirty="0"/>
              <a:t>另外两点：每段都有闸门，准备阶段没开启的环节直接跳过；以及这条链路的形态来自 2026 年 9 月对三位作者成果的实战分析，换作者时只传参数、不改脚本。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进入原有链路的第一件事，是确认"哪些成果真的是这位老师写的"。</a:t>
            </a:r>
          </a:p>
          <a:p>
            <a:endParaRPr lang="zh-CN" dirty="0"/>
          </a:p>
          <a:p>
            <a:r>
              <a:rPr lang="zh-CN" dirty="0"/>
              <a:t>我们用了三个来源互相补齐：记录库可能有重复条目，也可能完全没有同步；作者主页的自述清单权威性最高，因为那是作者自己认可的成果集；开放学术图谱数据全，但作者聚合会过度合并。三个来源交叉确认之后，得到一份去重后的权威成果总表，再逐条核实期刊、年、卷、期、页，并回填结构化的作者全名，供后面的规范著录使用。</a:t>
            </a:r>
          </a:p>
          <a:p>
            <a:endParaRPr lang="zh-CN" dirty="0"/>
          </a:p>
          <a:p>
            <a:r>
              <a:rPr lang="zh-CN" dirty="0"/>
              <a:t>为什么要这么麻烦？因为单一来源都有缺口。有一类情况特别典型：某些作者在记录库里根本没有同步任何成果，这时候就只能以主页自述清单为准，图谱数据退回去只补标识符和摘要。</a:t>
            </a:r>
          </a:p>
          <a:p>
            <a:endParaRPr lang="zh-CN" dirty="0"/>
          </a:p>
          <a:p>
            <a:r>
              <a:rPr lang="zh-CN" dirty="0"/>
              <a:t>下一页专门讲怎么把同名他人的论文剔出去——那是整条链路最容易出错的一步。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解读完之后，链路有三个出口。</a:t>
            </a:r>
          </a:p>
          <a:p>
            <a:endParaRPr lang="zh-CN" dirty="0"/>
          </a:p>
          <a:p>
            <a:r>
              <a:rPr lang="zh-CN" dirty="0"/>
              <a:t>第一份是最终列表：去重加方向相关性整理，被剔除的项逐条留档——宁可多留一条线索，也不静默丢掉。第二份是研究方向综述：每个方向给出最紧密的一篇综述、已确认的结论、仍未解决的问题，术语都做解释，因为读者是没有科研经验的本科生。第三份是知识图谱三张：总览按主题聚类上色、词云聚焦研究方法、方向聚类看近几年的热点。</a:t>
            </a:r>
          </a:p>
          <a:p>
            <a:endParaRPr lang="zh-CN" dirty="0"/>
          </a:p>
          <a:p>
            <a:r>
              <a:rPr lang="zh-CN" dirty="0"/>
              <a:t>这一页还有一件我认为很重要的事：图谱自己会说明"这一簇在讲什么"。它给的不只是图，还有数据聚合出来的说明；同时它会找出一种有价值的线索——同一个方向里，一篇的"待验证问题"和另一篇的"已验证结论"高度重合，那就是一篇说还没解决、另一篇说已经证实。但注意，输出的是待复核线索，不是已确认的矛盾，措辞上严格区分。</a:t>
            </a:r>
          </a:p>
          <a:p>
            <a:endParaRPr lang="zh-CN" dirty="0"/>
          </a:p>
          <a:p>
            <a:r>
              <a:rPr lang="zh-CN" dirty="0"/>
              <a:t>最后一行是诚实性：挂不上方向的综述、放不下的低频词、年份样本不足的方向，都显式报出数量，不静默丢弃。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这一页是清单：用户最后拿到什么。</a:t>
            </a:r>
          </a:p>
          <a:p>
            <a:endParaRPr lang="zh-CN" dirty="0"/>
          </a:p>
          <a:p>
            <a:r>
              <a:rPr lang="zh-CN" dirty="0"/>
              <a:t>左边是入门交付，走到 R2 为止：方向与关键词计划、分方向的导师名单、六到十二篇优质综述清单、以及一份领域概貌——概貌里包含关键概念、共识、争议、推荐阅读顺序和可能的选题切入点。右边是深挖交付：规范著录的论文列表、全文获取清单、逐篇论文解读、研究方向综述、知识图谱三张，另外还有一份可选的汇报 PPT。</a:t>
            </a:r>
          </a:p>
          <a:p>
            <a:endParaRPr lang="zh-CN" dirty="0"/>
          </a:p>
          <a:p>
            <a:r>
              <a:rPr lang="zh-CN" dirty="0"/>
              <a:t>用法很直接：名单用于联系导师的邮件，综述清单和领域概貌用于开题报告或课程论文。</a:t>
            </a:r>
          </a:p>
          <a:p>
            <a:endParaRPr lang="zh-CN" dirty="0"/>
          </a:p>
          <a:p>
            <a:r>
              <a:rPr lang="zh-CN" dirty="0"/>
              <a:t>下面两行是我想强调的：每份产物都能溯到来源——DOI、主页链接、证据层级、未获取原因；而且交付时会同时说明覆盖度：哪些拿到了全文、哪些只有摘要、原因是什么。这跟上一页是同一件事。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最后用一句话收束。</a:t>
            </a:r>
          </a:p>
          <a:p>
            <a:endParaRPr lang="zh-CN" dirty="0"/>
          </a:p>
          <a:p>
            <a:r>
              <a:rPr lang="zh-CN" dirty="0"/>
              <a:t>整条链路其实就是三步：先把"想做什么"翻译成"去哪儿、用什么词找"——这是阶段 N 和 R；再让每一步都留下证据——题录要核实、同名要消歧、证据要分层；最后把取不到的部分如实标注出来。</a:t>
            </a:r>
          </a:p>
          <a:p>
            <a:endParaRPr lang="zh-CN" dirty="0"/>
          </a:p>
          <a:p>
            <a:r>
              <a:rPr lang="zh-CN" dirty="0"/>
              <a:t>这三件事合起来，就是一开始那句承诺：把本科生"不知道从哪下手"的一句话，变成可联系导师、可引用、可溯源的科研入门材料。</a:t>
            </a:r>
          </a:p>
          <a:p>
            <a:endParaRPr lang="zh-CN" dirty="0"/>
          </a:p>
          <a:p>
            <a:r>
              <a:rPr lang="zh-CN" dirty="0"/>
              <a:t>欢迎各位从阶段 N 开始试一条链路，或者直接点名一位老师深挖。谢谢。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low1-over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  <a:t>10/6/2026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low1-over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  <a:t>10/6/2026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3721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4" name="cover-header"/>
          <p:cNvGrpSpPr/>
          <p:nvPr/>
        </p:nvGrpSpPr>
        <p:grpSpPr>
          <a:xfrm>
            <a:off x="571500" y="1085850"/>
            <a:ext cx="11049000" cy="9525"/>
            <a:chOff x="571500" y="1085850"/>
            <a:chExt cx="11049000" cy="9525"/>
          </a:xfrm>
        </p:grpSpPr>
        <p:sp>
          <p:nvSpPr>
            <p:cNvPr id="7" name="Line 7"/>
            <p:cNvSpPr/>
            <p:nvPr/>
          </p:nvSpPr>
          <p:spPr>
            <a:xfrm>
              <a:off x="571500" y="10858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10858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669036" y="2005965"/>
            <a:ext cx="5924699" cy="50783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本科生文献检索与科研辅助</a:t>
            </a:r>
            <a:r>
              <a:rPr lang="zh-CN" altLang="en-US" sz="330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工具</a:t>
            </a:r>
            <a:endParaRPr lang="zh-CN" sz="3300" dirty="0">
              <a:solidFill>
                <a:schemeClr val="accent5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39" name="cover-points"/>
          <p:cNvGrpSpPr/>
          <p:nvPr/>
        </p:nvGrpSpPr>
        <p:grpSpPr>
          <a:xfrm>
            <a:off x="714375" y="4539615"/>
            <a:ext cx="5335905" cy="1190244"/>
            <a:chOff x="714375" y="4539615"/>
            <a:chExt cx="5335905" cy="1190244"/>
          </a:xfrm>
        </p:grpSpPr>
        <p:grpSp>
          <p:nvGrpSpPr>
            <p:cNvPr id="34" name="Group 34"/>
            <p:cNvGrpSpPr/>
            <p:nvPr/>
          </p:nvGrpSpPr>
          <p:grpSpPr>
            <a:xfrm>
              <a:off x="714375" y="4610100"/>
              <a:ext cx="76200" cy="914400"/>
              <a:chOff x="714375" y="4610100"/>
              <a:chExt cx="76200" cy="914400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14375" y="46101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714375" y="50292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14375" y="54483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943356" y="4539615"/>
              <a:ext cx="5106924" cy="1190244"/>
              <a:chOff x="943356" y="4539615"/>
              <a:chExt cx="5106924" cy="1190244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943356" y="4539615"/>
                <a:ext cx="486460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大创选题：把「想做什么」变成能检索的方向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943356" y="4958715"/>
                <a:ext cx="510692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进实验室：摊开学部官网导师名单并按方向归类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43356" y="5377815"/>
                <a:ext cx="46222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课程综述：先拿到优质综述与一份领域概貌</a:t>
                </a:r>
              </a:p>
            </p:txBody>
          </p:sp>
        </p:grpSp>
      </p:grpSp>
      <p:grpSp>
        <p:nvGrpSpPr>
          <p:cNvPr id="51" name="title-block"/>
          <p:cNvGrpSpPr/>
          <p:nvPr/>
        </p:nvGrpSpPr>
        <p:grpSpPr>
          <a:xfrm>
            <a:off x="0" y="5734050"/>
            <a:ext cx="12192000" cy="1123950"/>
            <a:chOff x="0" y="5734050"/>
            <a:chExt cx="12192000" cy="1123950"/>
          </a:xfrm>
        </p:grpSpPr>
        <p:sp>
          <p:nvSpPr>
            <p:cNvPr id="40" name="Line 40"/>
            <p:cNvSpPr/>
            <p:nvPr/>
          </p:nvSpPr>
          <p:spPr>
            <a:xfrm>
              <a:off x="0" y="5734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248525" y="5734050"/>
              <a:ext cx="9525" cy="1123950"/>
            </a:xfrm>
            <a:custGeom>
              <a:avLst/>
              <a:gdLst/>
              <a:ahLst/>
              <a:cxnLst/>
              <a:rect l="l" t="t" r="r" b="b"/>
              <a:pathLst>
                <a:path w="9525" h="1123950">
                  <a:moveTo>
                    <a:pt x="0" y="0"/>
                  </a:moveTo>
                  <a:lnTo>
                    <a:pt x="0" y="11239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9667875" y="5734050"/>
              <a:ext cx="9525" cy="1123950"/>
            </a:xfrm>
            <a:custGeom>
              <a:avLst/>
              <a:gdLst/>
              <a:ahLst/>
              <a:cxnLst/>
              <a:rect l="l" t="t" r="r" b="b"/>
              <a:pathLst>
                <a:path w="9525" h="1123950">
                  <a:moveTo>
                    <a:pt x="0" y="0"/>
                  </a:moveTo>
                  <a:lnTo>
                    <a:pt x="0" y="11239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259080" y="5934075"/>
              <a:ext cx="10280332" cy="726132"/>
              <a:chOff x="259080" y="5934075"/>
              <a:chExt cx="10280332" cy="726132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259080" y="5934075"/>
                <a:ext cx="38472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项目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59080" y="6429375"/>
                <a:ext cx="2308324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本科生文献检索与科研辅助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517130" y="6429375"/>
                <a:ext cx="740587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01 / </a:t>
                </a:r>
                <a:r>
                  <a:rPr lang="en-US" altLang="zh-CN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14</a:t>
                </a:r>
                <a:endParaRPr lang="zh-CN" sz="15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962331" y="6429375"/>
                <a:ext cx="577081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50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王诗尹</a:t>
                </a:r>
                <a:endParaRPr lang="zh-CN" sz="15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id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6769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2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7" name="Line 7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P0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2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痛点</a:t>
              </a:r>
            </a:p>
          </p:txBody>
        </p:sp>
      </p:grpSp>
      <p:grpSp>
        <p:nvGrpSpPr>
          <p:cNvPr id="23" name="card-scenario-1"/>
          <p:cNvGrpSpPr/>
          <p:nvPr/>
        </p:nvGrpSpPr>
        <p:grpSpPr>
          <a:xfrm>
            <a:off x="685800" y="1428750"/>
            <a:ext cx="3390900" cy="3962400"/>
            <a:chOff x="685800" y="1428750"/>
            <a:chExt cx="3390900" cy="3962400"/>
          </a:xfrm>
        </p:grpSpPr>
        <p:sp>
          <p:nvSpPr>
            <p:cNvPr id="13" name="Rectangle 13"/>
            <p:cNvSpPr/>
            <p:nvPr/>
          </p:nvSpPr>
          <p:spPr>
            <a:xfrm>
              <a:off x="685800" y="1428750"/>
              <a:ext cx="3390900" cy="3962400"/>
            </a:xfrm>
            <a:prstGeom prst="roundRect">
              <a:avLst>
                <a:gd name="adj" fmla="val 1124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03601" y="1749731"/>
              <a:ext cx="278800" cy="308941"/>
              <a:chOff x="1003601" y="1749731"/>
              <a:chExt cx="278800" cy="30894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095375" y="18415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03601" y="1749731"/>
                <a:ext cx="278800" cy="308941"/>
              </a:xfrm>
              <a:custGeom>
                <a:avLst/>
                <a:gdLst/>
                <a:ahLst/>
                <a:cxnLst/>
                <a:rect l="l" t="t" r="r" b="b"/>
                <a:pathLst>
                  <a:path w="278800" h="308941">
                    <a:moveTo>
                      <a:pt x="229205" y="229200"/>
                    </a:moveTo>
                    <a:lnTo>
                      <a:pt x="161847" y="296557"/>
                    </a:lnTo>
                    <a:cubicBezTo>
                      <a:pt x="149451" y="308941"/>
                      <a:pt x="129365" y="308941"/>
                      <a:pt x="116968" y="296557"/>
                    </a:cubicBezTo>
                    <a:lnTo>
                      <a:pt x="49595" y="229200"/>
                    </a:lnTo>
                    <a:cubicBezTo>
                      <a:pt x="0" y="179602"/>
                      <a:pt x="1" y="99191"/>
                      <a:pt x="49598" y="49596"/>
                    </a:cubicBezTo>
                    <a:cubicBezTo>
                      <a:pt x="99194" y="0"/>
                      <a:pt x="179605" y="0"/>
                      <a:pt x="229202" y="49596"/>
                    </a:cubicBezTo>
                    <a:cubicBezTo>
                      <a:pt x="278798" y="99191"/>
                      <a:pt x="278800" y="179602"/>
                      <a:pt x="229205" y="2292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477518" y="1822132"/>
              <a:ext cx="827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01 选题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38784" y="2337435"/>
              <a:ext cx="2427732" cy="966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大学生研究计划</a:t>
              </a:r>
              <a:br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不知从哪下手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52500" y="3333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433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用户会说：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3356" y="3882390"/>
              <a:ext cx="23042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「想做个跟阿尔茨海默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有关的项目」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3356" y="48348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33A2B"/>
                  </a:solidFill>
                  <a:latin typeface="+mn-lt"/>
                  <a:ea typeface="+mn-ea"/>
                  <a:cs typeface="+mn-cs"/>
                </a:rPr>
                <a:t>缺：可检索的方向</a:t>
              </a:r>
            </a:p>
          </p:txBody>
        </p:sp>
      </p:grpSp>
      <p:grpSp>
        <p:nvGrpSpPr>
          <p:cNvPr id="36" name="card-scenario-2"/>
          <p:cNvGrpSpPr/>
          <p:nvPr/>
        </p:nvGrpSpPr>
        <p:grpSpPr>
          <a:xfrm>
            <a:off x="4495800" y="1428750"/>
            <a:ext cx="3390900" cy="3962400"/>
            <a:chOff x="4495800" y="1428750"/>
            <a:chExt cx="3390900" cy="3962400"/>
          </a:xfrm>
        </p:grpSpPr>
        <p:sp>
          <p:nvSpPr>
            <p:cNvPr id="24" name="Rectangle 24"/>
            <p:cNvSpPr/>
            <p:nvPr/>
          </p:nvSpPr>
          <p:spPr>
            <a:xfrm>
              <a:off x="4495800" y="1428750"/>
              <a:ext cx="3390900" cy="3962400"/>
            </a:xfrm>
            <a:prstGeom prst="roundRect">
              <a:avLst>
                <a:gd name="adj" fmla="val 1124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4810125" y="1762125"/>
              <a:ext cx="285751" cy="285751"/>
              <a:chOff x="4810125" y="1762125"/>
              <a:chExt cx="285751" cy="28575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841875" y="176212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10125" y="19526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16501" y="1764189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20"/>
                      <a:pt x="28097" y="115837"/>
                      <a:pt x="0" y="123031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48251" y="1955007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5287518" y="1822132"/>
              <a:ext cx="104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02 找导师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8784" y="2337435"/>
              <a:ext cx="2770632" cy="966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进实验室，不知道</a:t>
              </a:r>
              <a:br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谁在做这个方向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762500" y="3333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533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用户会说：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753356" y="3882390"/>
              <a:ext cx="23042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「我是科大生医部的，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想找做免疫的老师」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53356" y="48348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33A2B"/>
                  </a:solidFill>
                  <a:latin typeface="+mn-lt"/>
                  <a:ea typeface="+mn-ea"/>
                  <a:cs typeface="+mn-cs"/>
                </a:rPr>
                <a:t>缺：按方向归类的名单</a:t>
              </a:r>
            </a:p>
          </p:txBody>
        </p:sp>
      </p:grpSp>
      <p:grpSp>
        <p:nvGrpSpPr>
          <p:cNvPr id="49" name="card-scenario-3"/>
          <p:cNvGrpSpPr/>
          <p:nvPr/>
        </p:nvGrpSpPr>
        <p:grpSpPr>
          <a:xfrm>
            <a:off x="8305800" y="1428750"/>
            <a:ext cx="3390900" cy="3962400"/>
            <a:chOff x="8305800" y="1428750"/>
            <a:chExt cx="3390900" cy="3962400"/>
          </a:xfrm>
        </p:grpSpPr>
        <p:sp>
          <p:nvSpPr>
            <p:cNvPr id="37" name="Rectangle 37"/>
            <p:cNvSpPr/>
            <p:nvPr/>
          </p:nvSpPr>
          <p:spPr>
            <a:xfrm>
              <a:off x="8305800" y="1428750"/>
              <a:ext cx="3390900" cy="3962400"/>
            </a:xfrm>
            <a:prstGeom prst="roundRect">
              <a:avLst>
                <a:gd name="adj" fmla="val 1124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8651875" y="1762125"/>
              <a:ext cx="254001" cy="301626"/>
              <a:chOff x="8651875" y="1762125"/>
              <a:chExt cx="254001" cy="30162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794750" y="17621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651875" y="1762125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11125" y="285751"/>
                    </a:moveTo>
                    <a:lnTo>
                      <a:pt x="31750" y="285751"/>
                    </a:lnTo>
                    <a:cubicBezTo>
                      <a:pt x="14215" y="285751"/>
                      <a:pt x="0" y="271536"/>
                      <a:pt x="0" y="254001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150813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794750" y="195262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39688"/>
                    </a:moveTo>
                    <a:cubicBezTo>
                      <a:pt x="0" y="61606"/>
                      <a:pt x="17769" y="79375"/>
                      <a:pt x="39688" y="79375"/>
                    </a:cubicBezTo>
                    <a:cubicBezTo>
                      <a:pt x="61606" y="79375"/>
                      <a:pt x="79375" y="61606"/>
                      <a:pt x="79375" y="39688"/>
                    </a:cubicBezTo>
                    <a:cubicBezTo>
                      <a:pt x="79375" y="17769"/>
                      <a:pt x="61606" y="0"/>
                      <a:pt x="39688" y="0"/>
                    </a:cubicBezTo>
                    <a:cubicBezTo>
                      <a:pt x="17769" y="0"/>
                      <a:pt x="0" y="17769"/>
                      <a:pt x="0" y="39688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866188" y="2024063"/>
                <a:ext cx="39688" cy="39688"/>
              </a:xfrm>
              <a:custGeom>
                <a:avLst/>
                <a:gdLst/>
                <a:ahLst/>
                <a:cxnLst/>
                <a:rect l="l" t="t" r="r" b="b"/>
                <a:pathLst>
                  <a:path w="39688" h="39688">
                    <a:moveTo>
                      <a:pt x="0" y="0"/>
                    </a:moveTo>
                    <a:lnTo>
                      <a:pt x="39688" y="39688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097518" y="1822132"/>
              <a:ext cx="104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03 写综述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558784" y="2337435"/>
              <a:ext cx="2427732" cy="9662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课程作业要综述</a:t>
              </a:r>
              <a:br>
                <a:rPr dirty="0"/>
              </a:br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拿不到权威文献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8572500" y="3333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5633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用户会说：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563356" y="3882390"/>
              <a:ext cx="230428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「写基因编辑伦理的</a:t>
              </a:r>
              <a:br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综述，找几篇权威的」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63356" y="48348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33A2B"/>
                  </a:solidFill>
                  <a:latin typeface="+mn-lt"/>
                  <a:ea typeface="+mn-ea"/>
                  <a:cs typeface="+mn-cs"/>
                </a:rPr>
                <a:t>缺：可引用的综述清单</a:t>
              </a:r>
            </a:p>
          </p:txBody>
        </p:sp>
      </p:grpSp>
      <p:grpSp>
        <p:nvGrpSpPr>
          <p:cNvPr id="54" name="root-cause"/>
          <p:cNvGrpSpPr/>
          <p:nvPr/>
        </p:nvGrpSpPr>
        <p:grpSpPr>
          <a:xfrm>
            <a:off x="0" y="5676900"/>
            <a:ext cx="12192000" cy="948511"/>
            <a:chOff x="0" y="5676900"/>
            <a:chExt cx="12192000" cy="948511"/>
          </a:xfrm>
        </p:grpSpPr>
        <p:sp>
          <p:nvSpPr>
            <p:cNvPr id="50" name="Line 50"/>
            <p:cNvSpPr/>
            <p:nvPr/>
          </p:nvSpPr>
          <p:spPr>
            <a:xfrm>
              <a:off x="0" y="56769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85800" y="59245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0308" y="5855970"/>
              <a:ext cx="3231654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</a:t>
              </a:r>
              <a:r>
                <a:rPr lang="zh-CN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「想做什么」</a:t>
              </a:r>
              <a:endParaRPr lang="en-US" altLang="zh-CN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  <a:p>
              <a:pPr algn="l">
                <a:lnSpc>
                  <a:spcPts val="1950"/>
                </a:lnSpc>
              </a:pPr>
              <a:br>
                <a:rPr sz="1400" dirty="0"/>
              </a:br>
              <a:r>
                <a:rPr lang="zh-CN" altLang="en-US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到</a:t>
              </a:r>
              <a:r>
                <a:rPr lang="zh-CN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「去哪个领域、用哪些词找」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03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边界</a:t>
              </a:r>
            </a:p>
          </p:txBody>
        </p:sp>
      </p:grpSp>
      <p:grpSp>
        <p:nvGrpSpPr>
          <p:cNvPr id="26" name="scope-grid"/>
          <p:cNvGrpSpPr/>
          <p:nvPr/>
        </p:nvGrpSpPr>
        <p:grpSpPr>
          <a:xfrm>
            <a:off x="672084" y="1613535"/>
            <a:ext cx="10834116" cy="3020949"/>
            <a:chOff x="672084" y="1613535"/>
            <a:chExt cx="10834116" cy="3020949"/>
          </a:xfrm>
        </p:grpSpPr>
        <p:sp>
          <p:nvSpPr>
            <p:cNvPr id="13" name="TextBox 13"/>
            <p:cNvSpPr txBox="1"/>
            <p:nvPr/>
          </p:nvSpPr>
          <p:spPr>
            <a:xfrm>
              <a:off x="672084" y="1613535"/>
              <a:ext cx="7543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F7D4F"/>
                  </a:solidFill>
                  <a:latin typeface="+mn-lt"/>
                  <a:ea typeface="+mn-ea"/>
                  <a:cs typeface="+mn-cs"/>
                </a:rPr>
                <a:t>适用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676656" y="2205990"/>
              <a:ext cx="3168396" cy="1666494"/>
              <a:chOff x="676656" y="2205990"/>
              <a:chExt cx="3168396" cy="166649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676656" y="220599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本科生进实验室选导师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76656" y="264414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大学生研究计划（大创）选题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76656" y="308229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课程综述类文献查找与写作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6656" y="3520440"/>
                <a:ext cx="29260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锁定某位作者后的成果分析</a:t>
                </a:r>
              </a:p>
            </p:txBody>
          </p:sp>
        </p:grpSp>
        <p:sp>
          <p:nvSpPr>
            <p:cNvPr id="24" name="Line 24"/>
            <p:cNvSpPr/>
            <p:nvPr/>
          </p:nvSpPr>
          <p:spPr>
            <a:xfrm>
              <a:off x="685800" y="4114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6656" y="428244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它面向没有科研经验的本科生：解释术语、先给为什么，再给怎么做</a:t>
              </a:r>
            </a:p>
          </p:txBody>
        </p:sp>
      </p:grpSp>
      <p:grpSp>
        <p:nvGrpSpPr>
          <p:cNvPr id="32" name="precondition"/>
          <p:cNvGrpSpPr/>
          <p:nvPr/>
        </p:nvGrpSpPr>
        <p:grpSpPr>
          <a:xfrm>
            <a:off x="672084" y="4953000"/>
            <a:ext cx="10834116" cy="1415034"/>
            <a:chOff x="672084" y="4953000"/>
            <a:chExt cx="10834116" cy="1415034"/>
          </a:xfrm>
        </p:grpSpPr>
        <p:sp>
          <p:nvSpPr>
            <p:cNvPr id="27" name="Line 27"/>
            <p:cNvSpPr/>
            <p:nvPr/>
          </p:nvSpPr>
          <p:spPr>
            <a:xfrm>
              <a:off x="685800" y="4953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2084" y="5080635"/>
              <a:ext cx="692497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6656" y="5634990"/>
              <a:ext cx="60465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Windows + </a:t>
              </a:r>
              <a:r>
                <a:rPr lang="zh-CN" alt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浏览器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；Python 通过 uv 运行，不需要预装依赖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656" y="601599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全文获取需要真实浏览器实例；机构订阅内容交由人工或机构渠道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04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选题</a:t>
              </a:r>
            </a:p>
          </p:txBody>
        </p:sp>
      </p:grpSp>
      <p:grpSp>
        <p:nvGrpSpPr>
          <p:cNvPr id="27" name="funnel"/>
          <p:cNvGrpSpPr/>
          <p:nvPr/>
        </p:nvGrpSpPr>
        <p:grpSpPr>
          <a:xfrm>
            <a:off x="676656" y="1386840"/>
            <a:ext cx="10829544" cy="4047744"/>
            <a:chOff x="676656" y="1386840"/>
            <a:chExt cx="10829544" cy="4047744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8684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最适合大创的题目，往往就写在综述的「仍未解决」那一节里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85800" y="1905000"/>
              <a:ext cx="10820400" cy="1943100"/>
              <a:chOff x="685800" y="1905000"/>
              <a:chExt cx="10820400" cy="19431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1905000"/>
                <a:ext cx="10820400" cy="571500"/>
              </a:xfrm>
              <a:prstGeom prst="roundRect">
                <a:avLst>
                  <a:gd name="adj" fmla="val 66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447800" y="2590800"/>
                <a:ext cx="9296400" cy="571500"/>
              </a:xfrm>
              <a:prstGeom prst="roundRect">
                <a:avLst>
                  <a:gd name="adj" fmla="val 66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2209800" y="3276600"/>
                <a:ext cx="7772400" cy="571500"/>
              </a:xfrm>
              <a:prstGeom prst="roundRect">
                <a:avLst>
                  <a:gd name="adj" fmla="val 66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943356" y="2072640"/>
              <a:ext cx="3895344" cy="1723644"/>
              <a:chOff x="943356" y="2072640"/>
              <a:chExt cx="3895344" cy="17236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43356" y="2072640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读到的结论：共识是什么、争议在哪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05356" y="2758440"/>
                <a:ext cx="273404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仍未解决 / 有争议的问题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467356" y="34442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可做的选题切入点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658356" y="2072640"/>
              <a:ext cx="2923877" cy="962799"/>
              <a:chOff x="6658356" y="2072640"/>
              <a:chExt cx="2923877" cy="96279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658356" y="2072640"/>
                <a:ext cx="26353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来自 6–12 篇综述的汇总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8356" y="2758440"/>
                <a:ext cx="292387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入门 → 奠基 → 争议 → 方法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5800" y="4563534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6656" y="5157585"/>
              <a:ext cx="715580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方向与导师名单</a:t>
              </a:r>
              <a:r>
                <a:rPr lang="en-US" alt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	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</a:t>
              </a:r>
              <a:r>
                <a:rPr lang="en-US" alt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	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该方向的</a:t>
              </a:r>
              <a:r>
                <a:rPr lang="zh-CN" alt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精读理解</a:t>
              </a:r>
              <a:r>
                <a:rPr lang="en-US" alt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	=	</a:t>
              </a:r>
              <a:r>
                <a:rPr lang="zh-CN" altLang="en-US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一封有料的申请邮件</a:t>
              </a:r>
              <a:endPara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46807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P0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5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</a:t>
              </a:r>
            </a:p>
          </p:txBody>
        </p:sp>
      </p:grpSp>
      <p:grpSp>
        <p:nvGrpSpPr>
          <p:cNvPr id="17" name="input-box"/>
          <p:cNvGrpSpPr/>
          <p:nvPr/>
        </p:nvGrpSpPr>
        <p:grpSpPr>
          <a:xfrm>
            <a:off x="677418" y="1364932"/>
            <a:ext cx="3818382" cy="1873568"/>
            <a:chOff x="677418" y="1364932"/>
            <a:chExt cx="3818382" cy="1873568"/>
          </a:xfrm>
        </p:grpSpPr>
        <p:sp>
          <p:nvSpPr>
            <p:cNvPr id="12" name="Rectangle 12"/>
            <p:cNvSpPr/>
            <p:nvPr/>
          </p:nvSpPr>
          <p:spPr>
            <a:xfrm>
              <a:off x="685800" y="1714500"/>
              <a:ext cx="3810000" cy="152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1430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77418" y="1364932"/>
              <a:ext cx="1860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01 输入 / INPUT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8784" y="1954742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一句话意向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6648" y="2594991"/>
              <a:ext cx="2792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学校 / 学部 / 主题 / 层次</a:t>
              </a:r>
            </a:p>
          </p:txBody>
        </p:sp>
      </p:grpSp>
      <p:grpSp>
        <p:nvGrpSpPr>
          <p:cNvPr id="26" name="split-band"/>
          <p:cNvGrpSpPr/>
          <p:nvPr/>
        </p:nvGrpSpPr>
        <p:grpSpPr>
          <a:xfrm>
            <a:off x="5111517" y="1364932"/>
            <a:ext cx="1252707" cy="2869502"/>
            <a:chOff x="5111517" y="1364932"/>
            <a:chExt cx="1252707" cy="2869502"/>
          </a:xfrm>
        </p:grpSpPr>
        <p:sp>
          <p:nvSpPr>
            <p:cNvPr id="19" name="TextBox 19"/>
            <p:cNvSpPr txBox="1"/>
            <p:nvPr/>
          </p:nvSpPr>
          <p:spPr>
            <a:xfrm>
              <a:off x="5135118" y="1364932"/>
              <a:ext cx="827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02 拆解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111517" y="1654112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主题词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34356" y="2377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拆主题词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34356" y="27203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做同义扩展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129784" y="3366135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方法词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34356" y="38823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查方法总表</a:t>
              </a:r>
            </a:p>
          </p:txBody>
        </p:sp>
      </p:grpSp>
      <p:grpSp>
        <p:nvGrpSpPr>
          <p:cNvPr id="32" name="terms-box"/>
          <p:cNvGrpSpPr/>
          <p:nvPr/>
        </p:nvGrpSpPr>
        <p:grpSpPr>
          <a:xfrm>
            <a:off x="9535668" y="1364932"/>
            <a:ext cx="1970532" cy="1873568"/>
            <a:chOff x="9535668" y="1364932"/>
            <a:chExt cx="1970532" cy="1873568"/>
          </a:xfrm>
        </p:grpSpPr>
        <p:sp>
          <p:nvSpPr>
            <p:cNvPr id="27" name="Rectangle 27"/>
            <p:cNvSpPr/>
            <p:nvPr/>
          </p:nvSpPr>
          <p:spPr>
            <a:xfrm>
              <a:off x="9544050" y="1714500"/>
              <a:ext cx="1962150" cy="1524000"/>
            </a:xfrm>
            <a:prstGeom prst="roundRect">
              <a:avLst>
                <a:gd name="adj" fmla="val 2500"/>
              </a:avLst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35668" y="1364932"/>
              <a:ext cx="17157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词族表 / TERMS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63506" y="1920240"/>
              <a:ext cx="15691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24 个方法领域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763506" y="22821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关键词群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763506" y="2644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供机器匹配</a:t>
              </a:r>
            </a:p>
          </p:txBody>
        </p:sp>
      </p:grpSp>
      <p:grpSp>
        <p:nvGrpSpPr>
          <p:cNvPr id="39" name="keyword-result"/>
          <p:cNvGrpSpPr/>
          <p:nvPr/>
        </p:nvGrpSpPr>
        <p:grpSpPr>
          <a:xfrm>
            <a:off x="677418" y="4241482"/>
            <a:ext cx="5723382" cy="2159318"/>
            <a:chOff x="677418" y="4241482"/>
            <a:chExt cx="5723382" cy="2159318"/>
          </a:xfrm>
        </p:grpSpPr>
        <p:sp>
          <p:nvSpPr>
            <p:cNvPr id="33" name="Rectangle 33"/>
            <p:cNvSpPr/>
            <p:nvPr/>
          </p:nvSpPr>
          <p:spPr>
            <a:xfrm>
              <a:off x="685800" y="4591050"/>
              <a:ext cx="5715000" cy="1809750"/>
            </a:xfrm>
            <a:prstGeom prst="roundRect">
              <a:avLst>
                <a:gd name="adj" fmla="val 2105"/>
              </a:avLst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77418" y="4241482"/>
              <a:ext cx="18601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03 输出 / QUERY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43356" y="4853940"/>
              <a:ext cx="4619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阿尔茨海默病 / 老年痴呆 / AD / dementia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3356" y="5273040"/>
              <a:ext cx="37460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biomarker / imaging / PET / MRI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52500" y="5715000"/>
              <a:ext cx="5181600" cy="9525"/>
            </a:xfrm>
            <a:custGeom>
              <a:avLst/>
              <a:gdLst/>
              <a:ahLst/>
              <a:cxnLst/>
              <a:rect l="l" t="t" r="r" b="b"/>
              <a:pathLst>
                <a:path w="5181600" h="9525">
                  <a:moveTo>
                    <a:pt x="0" y="0"/>
                  </a:moveTo>
                  <a:lnTo>
                    <a:pt x="5181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3356" y="5920740"/>
              <a:ext cx="3858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(主题词 OR …) AND (方法词 OR …)</a:t>
              </a:r>
            </a:p>
          </p:txBody>
        </p:sp>
      </p:grpSp>
      <p:grpSp>
        <p:nvGrpSpPr>
          <p:cNvPr id="45" name="query-note"/>
          <p:cNvGrpSpPr/>
          <p:nvPr/>
        </p:nvGrpSpPr>
        <p:grpSpPr>
          <a:xfrm>
            <a:off x="7267956" y="5482590"/>
            <a:ext cx="3653028" cy="675894"/>
            <a:chOff x="7267956" y="5482590"/>
            <a:chExt cx="3653028" cy="675894"/>
          </a:xfrm>
        </p:grpSpPr>
        <p:sp>
          <p:nvSpPr>
            <p:cNvPr id="42" name="TextBox 42"/>
            <p:cNvSpPr txBox="1"/>
            <p:nvPr/>
          </p:nvSpPr>
          <p:spPr>
            <a:xfrm>
              <a:off x="7267956" y="54825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主题词负责找对领域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67956" y="58064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方法词负责过滤到方法匹配的文献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24232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P0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6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链路 </a:t>
              </a:r>
            </a:p>
          </p:txBody>
        </p:sp>
      </p:grpSp>
      <p:grpSp>
        <p:nvGrpSpPr>
          <p:cNvPr id="25" name="lane-undergrad"/>
          <p:cNvGrpSpPr/>
          <p:nvPr/>
        </p:nvGrpSpPr>
        <p:grpSpPr>
          <a:xfrm>
            <a:off x="676656" y="1329690"/>
            <a:ext cx="11412093" cy="1011555"/>
            <a:chOff x="676656" y="1329690"/>
            <a:chExt cx="11412093" cy="1011555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29690"/>
              <a:ext cx="21800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链路 </a:t>
              </a:r>
              <a:r>
                <a:rPr lang="en-US" alt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· 本科科研辅助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85800" y="1695450"/>
              <a:ext cx="2000250" cy="6096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647950" y="1695450"/>
              <a:ext cx="2000250" cy="6096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610100" y="1695450"/>
              <a:ext cx="2000250" cy="6096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572250" y="1695450"/>
              <a:ext cx="2000250" cy="609600"/>
            </a:xfrm>
            <a:prstGeom prst="chevron">
              <a:avLst/>
            </a:prstGeom>
            <a:solidFill>
              <a:schemeClr val="lt1"/>
            </a:solidFill>
            <a:ln w="14288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91184" y="1823085"/>
              <a:ext cx="6925196" cy="415498"/>
              <a:chOff x="1091184" y="1823085"/>
              <a:chExt cx="6925196" cy="41549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091184" y="1823085"/>
                <a:ext cx="1038746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定方向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053334" y="1823085"/>
                <a:ext cx="1038746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找导师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015484" y="1823085"/>
                <a:ext cx="1038746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找综述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977634" y="1823085"/>
                <a:ext cx="1038746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读概貌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983980" y="1743075"/>
              <a:ext cx="3104769" cy="598170"/>
              <a:chOff x="8983980" y="1743075"/>
              <a:chExt cx="3104769" cy="5981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8983980" y="17430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产出：方向与关键词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983980" y="2047875"/>
                <a:ext cx="310476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导师名单 / 综述清单 / 领域概貌</a:t>
                </a:r>
              </a:p>
            </p:txBody>
          </p:sp>
        </p:grpSp>
      </p:grpSp>
      <p:grpSp>
        <p:nvGrpSpPr>
          <p:cNvPr id="29" name="lane-divider"/>
          <p:cNvGrpSpPr/>
          <p:nvPr/>
        </p:nvGrpSpPr>
        <p:grpSpPr>
          <a:xfrm>
            <a:off x="672084" y="2705100"/>
            <a:ext cx="10834116" cy="582739"/>
            <a:chOff x="672084" y="2705100"/>
            <a:chExt cx="10834116" cy="582739"/>
          </a:xfrm>
        </p:grpSpPr>
        <p:sp>
          <p:nvSpPr>
            <p:cNvPr id="26" name="Line 26"/>
            <p:cNvSpPr/>
            <p:nvPr/>
          </p:nvSpPr>
          <p:spPr>
            <a:xfrm>
              <a:off x="685800" y="2705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2084" y="2851785"/>
              <a:ext cx="4847481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锁定某位导师后，</a:t>
              </a:r>
              <a:r>
                <a:rPr lang="zh-CN" altLang="en-US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进行精读工作</a:t>
              </a:r>
              <a:endParaRPr lang="zh-CN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73618" y="29651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深挖：一位作者的完整成果</a:t>
              </a:r>
            </a:p>
          </p:txBody>
        </p:sp>
      </p:grpSp>
      <p:grpSp>
        <p:nvGrpSpPr>
          <p:cNvPr id="53" name="lane-deep"/>
          <p:cNvGrpSpPr/>
          <p:nvPr/>
        </p:nvGrpSpPr>
        <p:grpSpPr>
          <a:xfrm>
            <a:off x="685800" y="3467100"/>
            <a:ext cx="10820400" cy="2514600"/>
            <a:chOff x="685800" y="3467100"/>
            <a:chExt cx="10820400" cy="2514600"/>
          </a:xfrm>
        </p:grpSpPr>
        <p:sp>
          <p:nvSpPr>
            <p:cNvPr id="30" name="Line 30"/>
            <p:cNvSpPr/>
            <p:nvPr/>
          </p:nvSpPr>
          <p:spPr>
            <a:xfrm>
              <a:off x="685800" y="34671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85800" y="3733800"/>
              <a:ext cx="10172700" cy="2247900"/>
              <a:chOff x="685800" y="3733800"/>
              <a:chExt cx="10172700" cy="22479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85800" y="37338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4152900" y="37338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7620000" y="37338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85800" y="49911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4152900" y="49911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7620000" y="4991100"/>
                <a:ext cx="3238500" cy="990600"/>
              </a:xfrm>
              <a:prstGeom prst="roundRect">
                <a:avLst>
                  <a:gd name="adj" fmla="val 3846"/>
                </a:avLst>
              </a:prstGeom>
              <a:noFill/>
              <a:ln w="14288">
                <a:solidFill>
                  <a:srgbClr val="5A6B73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906018" y="3841432"/>
              <a:ext cx="7992182" cy="1511216"/>
              <a:chOff x="906018" y="3841432"/>
              <a:chExt cx="7992182" cy="1511216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906018" y="3841432"/>
                <a:ext cx="423193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准备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373118" y="3841432"/>
                <a:ext cx="10579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定位与抓取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840218" y="3841432"/>
                <a:ext cx="10579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核实与消歧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06018" y="5098732"/>
                <a:ext cx="10579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获取与转化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73118" y="5098732"/>
                <a:ext cx="10579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列表与解读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840218" y="5098732"/>
                <a:ext cx="1057982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图谱与交付</a:t>
                </a: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905256" y="4206240"/>
              <a:ext cx="8828837" cy="1609344"/>
              <a:chOff x="905256" y="4206240"/>
              <a:chExt cx="8828837" cy="1609344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905256" y="42062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把选择一次问清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4372356" y="42062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确认身份与成果集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839456" y="42062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剔除同名他人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05256" y="54635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全文获取与中译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372356" y="54635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规范著录与逐篇解读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839456" y="5463540"/>
                <a:ext cx="18946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图谱、PPT、收尾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P0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7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概览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41" name="step-band"/>
          <p:cNvGrpSpPr/>
          <p:nvPr/>
        </p:nvGrpSpPr>
        <p:grpSpPr>
          <a:xfrm>
            <a:off x="676656" y="1386840"/>
            <a:ext cx="10143744" cy="2385060"/>
            <a:chOff x="676656" y="1386840"/>
            <a:chExt cx="10143744" cy="2385060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86840"/>
              <a:ext cx="3956211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把口语意向转成结构化方向 + 关键词群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685800" y="1866900"/>
              <a:ext cx="10134600" cy="1905000"/>
              <a:chOff x="685800" y="1866900"/>
              <a:chExt cx="10134600" cy="1905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1866900"/>
                <a:ext cx="2362200" cy="1905000"/>
              </a:xfrm>
              <a:prstGeom prst="roundRect">
                <a:avLst>
                  <a:gd name="adj" fmla="val 2000"/>
                </a:avLst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3276600" y="1866900"/>
                <a:ext cx="2362200" cy="1905000"/>
              </a:xfrm>
              <a:prstGeom prst="roundRect">
                <a:avLst>
                  <a:gd name="adj" fmla="val 2000"/>
                </a:avLst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867400" y="1866900"/>
                <a:ext cx="2362200" cy="1905000"/>
              </a:xfrm>
              <a:prstGeom prst="roundRect">
                <a:avLst>
                  <a:gd name="adj" fmla="val 2000"/>
                </a:avLst>
              </a:prstGeom>
              <a:noFill/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8458200" y="1866900"/>
                <a:ext cx="2362200" cy="1905000"/>
              </a:xfrm>
              <a:prstGeom prst="roundRect">
                <a:avLst>
                  <a:gd name="adj" fmla="val 2000"/>
                </a:avLst>
              </a:prstGeom>
              <a:noFill/>
              <a:ln w="14288">
                <a:solidFill>
                  <a:schemeClr val="accent1"/>
                </a:solidFill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906018" y="2050732"/>
              <a:ext cx="8563661" cy="322707"/>
              <a:chOff x="906018" y="2050732"/>
              <a:chExt cx="8563661" cy="322707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06018" y="2050732"/>
                <a:ext cx="791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STEP 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496818" y="2050732"/>
                <a:ext cx="791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STEP 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087618" y="2050732"/>
                <a:ext cx="791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STEP 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678418" y="2050732"/>
                <a:ext cx="7912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STEP 4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00684" y="2489835"/>
              <a:ext cx="9253728" cy="528066"/>
              <a:chOff x="900684" y="2489835"/>
              <a:chExt cx="9253728" cy="528066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900684" y="2489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解析输入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491484" y="2489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拆主题词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082284" y="2489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查方法词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673084" y="2489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落盘计划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05256" y="3025140"/>
              <a:ext cx="9523247" cy="694944"/>
              <a:chOff x="905256" y="3025140"/>
              <a:chExt cx="9523247" cy="69494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905256" y="302514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学校 / 学部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05256" y="3368040"/>
                <a:ext cx="12662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主题 / 层次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496056" y="3025140"/>
                <a:ext cx="1154162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chemeClr val="dk1"/>
                    </a:solidFill>
                  </a:rPr>
                  <a:t>输入</a:t>
                </a:r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给什么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496056" y="3368040"/>
                <a:ext cx="1993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用什么 + 同义扩展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86856" y="30251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在方法总表里找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86856" y="336804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会用到哪些方法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77656" y="3025140"/>
                <a:ext cx="17508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方向 + 中英词群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77656" y="3368040"/>
                <a:ext cx="143583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 检索式草稿</a:t>
                </a:r>
              </a:p>
            </p:txBody>
          </p:sp>
        </p:grpSp>
      </p:grpSp>
      <p:sp>
        <p:nvSpPr>
          <p:cNvPr id="42" name="Line 42"/>
          <p:cNvSpPr/>
          <p:nvPr/>
        </p:nvSpPr>
        <p:spPr>
          <a:xfrm>
            <a:off x="685800" y="4629150"/>
            <a:ext cx="10820400" cy="9525"/>
          </a:xfrm>
          <a:custGeom>
            <a:avLst/>
            <a:gdLst/>
            <a:ahLst/>
            <a:cxnLst/>
            <a:rect l="l" t="t" r="r" b="b"/>
            <a:pathLst>
              <a:path w="10820400" h="9525">
                <a:moveTo>
                  <a:pt x="0" y="0"/>
                </a:moveTo>
                <a:lnTo>
                  <a:pt x="10820400" y="0"/>
                </a:lnTo>
              </a:path>
            </a:pathLst>
          </a:custGeom>
          <a:noFill/>
          <a:ln w="28575">
            <a:solidFill>
              <a:schemeClr val="accent2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676656" y="6015990"/>
            <a:ext cx="5539978" cy="6604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700"/>
              </a:lnSpc>
            </a:pPr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两类词分开取：主题词</a:t>
            </a: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从用户输入来</a:t>
            </a:r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，方法词</a:t>
            </a:r>
            <a:r>
              <a: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去总表查</a:t>
            </a:r>
            <a:br>
              <a:rPr dirty="0"/>
            </a:br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产出中英双语检索词组</a:t>
            </a:r>
            <a:r>
              <a:rPr lang="zh-CN" altLang="en-US" dirty="0">
                <a:solidFill>
                  <a:schemeClr val="accent5"/>
                </a:solidFill>
              </a:rPr>
              <a:t>，链接下一阶段</a:t>
            </a:r>
            <a:endParaRPr lang="zh-CN" sz="180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08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找导师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31" name="mentor-rows"/>
          <p:cNvGrpSpPr/>
          <p:nvPr/>
        </p:nvGrpSpPr>
        <p:grpSpPr>
          <a:xfrm>
            <a:off x="676656" y="1386840"/>
            <a:ext cx="10829544" cy="3194685"/>
            <a:chOff x="676656" y="1386840"/>
            <a:chExt cx="10829544" cy="3194685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86840"/>
              <a:ext cx="54219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抓学部官网师资页 → 按方向归类 → 呈现给用户选择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85800" y="1733550"/>
              <a:ext cx="10820400" cy="2038350"/>
              <a:chOff x="685800" y="1733550"/>
              <a:chExt cx="10820400" cy="20383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1733550"/>
                <a:ext cx="10820400" cy="628650"/>
              </a:xfrm>
              <a:prstGeom prst="roundRect">
                <a:avLst>
                  <a:gd name="adj" fmla="val 6061"/>
                </a:avLst>
              </a:prstGeom>
              <a:solidFill>
                <a:schemeClr val="lt1"/>
              </a:solidFill>
              <a:ln w="11430">
                <a:solidFill>
                  <a:schemeClr val="accent6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85800" y="2438400"/>
                <a:ext cx="10820400" cy="628650"/>
              </a:xfrm>
              <a:prstGeom prst="roundRect">
                <a:avLst>
                  <a:gd name="adj" fmla="val 6061"/>
                </a:avLst>
              </a:prstGeom>
              <a:solidFill>
                <a:schemeClr val="lt1"/>
              </a:solidFill>
              <a:ln w="11430">
                <a:solidFill>
                  <a:schemeClr val="accent6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85800" y="3143250"/>
                <a:ext cx="10820400" cy="628650"/>
              </a:xfrm>
              <a:prstGeom prst="roundRect">
                <a:avLst>
                  <a:gd name="adj" fmla="val 6061"/>
                </a:avLst>
              </a:prstGeom>
              <a:solidFill>
                <a:schemeClr val="lt1"/>
              </a:solidFill>
              <a:ln w="11430">
                <a:solidFill>
                  <a:schemeClr val="accent6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938784" y="1880235"/>
              <a:ext cx="2571750" cy="1937766"/>
              <a:chOff x="938784" y="1880235"/>
              <a:chExt cx="2571750" cy="193776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38784" y="1880235"/>
                <a:ext cx="18448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免疫与感染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38784" y="2585085"/>
                <a:ext cx="22082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神经与脑科学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38784" y="3289935"/>
                <a:ext cx="2571750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生物信息与计算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4181856" y="1977390"/>
              <a:ext cx="3519754" cy="1761744"/>
              <a:chOff x="4181856" y="1977390"/>
              <a:chExt cx="3519754" cy="17617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4181856" y="1977390"/>
                <a:ext cx="327743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余跃 · 倪芳 · 吴清发 · 周荣斌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181856" y="2682240"/>
                <a:ext cx="35197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刘丹 · 刘北明 · 周逸峰 · 唐爱辉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181856" y="3387090"/>
                <a:ext cx="351975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刘东 · 刘海燕 · 唐爱辉 · 周丛照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278618" y="1993582"/>
              <a:ext cx="605390" cy="1732407"/>
              <a:chOff x="10278618" y="1993582"/>
              <a:chExt cx="605390" cy="1732407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0278618" y="1993582"/>
                <a:ext cx="6053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40 人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278618" y="2698432"/>
                <a:ext cx="6053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22 人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278618" y="3403282"/>
                <a:ext cx="60539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2"/>
                    </a:solidFill>
                    <a:latin typeface="Consolas"/>
                    <a:ea typeface="Microsoft YaHei"/>
                    <a:cs typeface="Consolas"/>
                  </a:rPr>
                  <a:t>22 人</a:t>
                </a:r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678180" y="3914775"/>
              <a:ext cx="1731243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以上为</a:t>
              </a:r>
              <a:r>
                <a:rPr lang="zh-CN" altLang="en-US" sz="15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本校</a:t>
              </a:r>
              <a:r>
                <a:rPr lang="zh-CN" sz="150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示例节选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34" name="showcase-band"/>
          <p:cNvGrpSpPr/>
          <p:nvPr/>
        </p:nvGrpSpPr>
        <p:grpSpPr>
          <a:xfrm>
            <a:off x="672084" y="4852035"/>
            <a:ext cx="6323076" cy="830199"/>
            <a:chOff x="672084" y="4852035"/>
            <a:chExt cx="6323076" cy="830199"/>
          </a:xfrm>
        </p:grpSpPr>
        <p:sp>
          <p:nvSpPr>
            <p:cNvPr id="32" name="TextBox 32"/>
            <p:cNvSpPr txBox="1"/>
            <p:nvPr/>
          </p:nvSpPr>
          <p:spPr>
            <a:xfrm>
              <a:off x="672084" y="4852035"/>
              <a:ext cx="32986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为什么只认学部官网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6656" y="5330190"/>
              <a:ext cx="63185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教师主页系统覆盖不全，且大量页面没有「研究方向」栏位</a:t>
              </a:r>
            </a:p>
          </p:txBody>
        </p:sp>
      </p:grpSp>
      <p:grpSp>
        <p:nvGrpSpPr>
          <p:cNvPr id="38" name="honesty-note"/>
          <p:cNvGrpSpPr/>
          <p:nvPr/>
        </p:nvGrpSpPr>
        <p:grpSpPr>
          <a:xfrm>
            <a:off x="676656" y="5867400"/>
            <a:ext cx="10829544" cy="900684"/>
            <a:chOff x="676656" y="5867400"/>
            <a:chExt cx="10829544" cy="900684"/>
          </a:xfrm>
        </p:grpSpPr>
        <p:sp>
          <p:nvSpPr>
            <p:cNvPr id="35" name="Line 35"/>
            <p:cNvSpPr/>
            <p:nvPr/>
          </p:nvSpPr>
          <p:spPr>
            <a:xfrm>
              <a:off x="685800" y="58674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6656" y="6092190"/>
              <a:ext cx="73334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归类是关键词粗分类、不是权威学科划分，一位老师可出现在多个方向下</a:t>
              </a:r>
              <a:br>
                <a:rPr dirty="0"/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页面确无该栏位就如实标注，不用印象补全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33690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P0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9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找综述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38" name="routing-table"/>
          <p:cNvGrpSpPr/>
          <p:nvPr/>
        </p:nvGrpSpPr>
        <p:grpSpPr>
          <a:xfrm>
            <a:off x="676656" y="1386840"/>
            <a:ext cx="10829544" cy="2508885"/>
            <a:chOff x="676656" y="1386840"/>
            <a:chExt cx="10829544" cy="2508885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8684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库要按方向选：同一批关键词在不同库里命中完全不同的文献生态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906018" y="1879282"/>
              <a:ext cx="6626733" cy="322707"/>
              <a:chOff x="906018" y="1879282"/>
              <a:chExt cx="6626733" cy="322707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906018" y="1879282"/>
                <a:ext cx="90525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研究方向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82618" y="187928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主力库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849618" y="1879282"/>
                <a:ext cx="68313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chemeClr val="accent5"/>
                    </a:solidFill>
                    <a:latin typeface="Consolas"/>
                    <a:ea typeface="Microsoft YaHei"/>
                    <a:cs typeface="Consolas"/>
                  </a:rPr>
                  <a:t>补充库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685800" y="21717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905256" y="2434590"/>
              <a:ext cx="2199132" cy="1380744"/>
              <a:chOff x="905256" y="2434590"/>
              <a:chExt cx="2199132" cy="138074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905256" y="24345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机器学习与深度学习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05256" y="29489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免疫与感染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5256" y="34632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生物信息与基因组学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181856" y="2434590"/>
              <a:ext cx="2380423" cy="1380744"/>
              <a:chOff x="4181856" y="2434590"/>
              <a:chExt cx="2380423" cy="1380744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4181856" y="2434590"/>
                <a:ext cx="6615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arXiv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181856" y="2948940"/>
                <a:ext cx="14398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Europe PMC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81856" y="3463290"/>
                <a:ext cx="23804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Europe PMC + arXiv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6848856" y="2434590"/>
              <a:ext cx="1087279" cy="1380744"/>
              <a:chOff x="6848856" y="2434590"/>
              <a:chExt cx="1087279" cy="138074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848856" y="2434590"/>
                <a:ext cx="108727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OpenAlex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848856" y="2948940"/>
                <a:ext cx="94653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medRxiv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848856" y="3463290"/>
                <a:ext cx="836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bioRxiv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9134856" y="2434590"/>
              <a:ext cx="1372133" cy="1305699"/>
              <a:chOff x="9134856" y="2434590"/>
              <a:chExt cx="1372133" cy="1305699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9134856" y="2434590"/>
                <a:ext cx="137213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B33A2B"/>
                    </a:solidFill>
                    <a:latin typeface="+mn-lt"/>
                    <a:ea typeface="+mn-ea"/>
                    <a:cs typeface="+mn-cs"/>
                  </a:rPr>
                  <a:t>Europe PMC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134856" y="2948940"/>
                <a:ext cx="6309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B33A2B"/>
                    </a:solidFill>
                    <a:latin typeface="+mn-lt"/>
                    <a:ea typeface="+mn-ea"/>
                    <a:cs typeface="+mn-cs"/>
                  </a:rPr>
                  <a:t>arXiv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134856" y="3463290"/>
                <a:ext cx="461665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B33A2B"/>
                    </a:solidFill>
                    <a:latin typeface="+mn-lt"/>
                    <a:ea typeface="+mn-ea"/>
                    <a:cs typeface="+mn-cs"/>
                  </a:rPr>
                  <a:t>——</a:t>
                </a:r>
              </a:p>
            </p:txBody>
          </p:sp>
        </p:grpSp>
        <p:sp>
          <p:nvSpPr>
            <p:cNvPr id="35" name="Line 35"/>
            <p:cNvSpPr/>
            <p:nvPr/>
          </p:nvSpPr>
          <p:spPr>
            <a:xfrm>
              <a:off x="685800" y="2857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F3F6F8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85800" y="3371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F3F6F8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85800" y="3886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42" name="lesson-band"/>
          <p:cNvGrpSpPr/>
          <p:nvPr/>
        </p:nvGrpSpPr>
        <p:grpSpPr>
          <a:xfrm>
            <a:off x="676656" y="4514850"/>
            <a:ext cx="10829544" cy="995934"/>
            <a:chOff x="676656" y="4514850"/>
            <a:chExt cx="10829544" cy="995934"/>
          </a:xfrm>
        </p:grpSpPr>
        <p:sp>
          <p:nvSpPr>
            <p:cNvPr id="39" name="Line 39"/>
            <p:cNvSpPr/>
            <p:nvPr/>
          </p:nvSpPr>
          <p:spPr>
            <a:xfrm>
              <a:off x="685800" y="45148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6656" y="5158740"/>
              <a:ext cx="7416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拿免疫学去查 arXiv，返回的 24 条里绝大多数是计算机领域的同名词</a:t>
              </a:r>
            </a:p>
          </p:txBody>
        </p:sp>
      </p:grpSp>
      <p:grpSp>
        <p:nvGrpSpPr>
          <p:cNvPr id="47" name="criteria-band"/>
          <p:cNvGrpSpPr/>
          <p:nvPr/>
        </p:nvGrpSpPr>
        <p:grpSpPr>
          <a:xfrm>
            <a:off x="672084" y="5791200"/>
            <a:ext cx="10834116" cy="636651"/>
            <a:chOff x="672084" y="5791200"/>
            <a:chExt cx="10834116" cy="636651"/>
          </a:xfrm>
        </p:grpSpPr>
        <p:sp>
          <p:nvSpPr>
            <p:cNvPr id="43" name="Line 43"/>
            <p:cNvSpPr/>
            <p:nvPr/>
          </p:nvSpPr>
          <p:spPr>
            <a:xfrm>
              <a:off x="685800" y="57912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084" y="5899785"/>
              <a:ext cx="1481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筛选标准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848356" y="5996940"/>
              <a:ext cx="423192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类型优先 → 影响力 → 时效（近 3–5 年</a:t>
              </a:r>
              <a:r>
                <a:rPr lang="zh-CN" altLang="en-US" dirty="0">
                  <a:solidFill>
                    <a:schemeClr val="dk1"/>
                  </a:solidFill>
                </a:rPr>
                <a:t>）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949643"/>
            <a:chOff x="0" y="450532"/>
            <a:chExt cx="12192000" cy="949643"/>
          </a:xfrm>
        </p:grpSpPr>
        <p:sp>
          <p:nvSpPr>
            <p:cNvPr id="6" name="Line 6"/>
            <p:cNvSpPr/>
            <p:nvPr/>
          </p:nvSpPr>
          <p:spPr>
            <a:xfrm>
              <a:off x="0" y="13906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10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精读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42" name="stage-flow"/>
          <p:cNvGrpSpPr/>
          <p:nvPr/>
        </p:nvGrpSpPr>
        <p:grpSpPr>
          <a:xfrm>
            <a:off x="672084" y="1828800"/>
            <a:ext cx="10376916" cy="2560701"/>
            <a:chOff x="672084" y="1828800"/>
            <a:chExt cx="10376916" cy="2560701"/>
          </a:xfrm>
        </p:grpSpPr>
        <p:grpSp>
          <p:nvGrpSpPr>
            <p:cNvPr id="18" name="Group 18"/>
            <p:cNvGrpSpPr/>
            <p:nvPr/>
          </p:nvGrpSpPr>
          <p:grpSpPr>
            <a:xfrm>
              <a:off x="685800" y="1828800"/>
              <a:ext cx="10363200" cy="914400"/>
              <a:chOff x="685800" y="1828800"/>
              <a:chExt cx="10363200" cy="914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858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24384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41910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9436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76962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448800" y="1828800"/>
                <a:ext cx="1600200" cy="914400"/>
              </a:xfrm>
              <a:prstGeom prst="roundRect">
                <a:avLst>
                  <a:gd name="adj" fmla="val 4167"/>
                </a:avLst>
              </a:prstGeom>
              <a:solidFill>
                <a:schemeClr val="lt2"/>
              </a:solidFill>
              <a:ln w="11430">
                <a:solidFill>
                  <a:schemeClr val="accent1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905256" y="2377440"/>
              <a:ext cx="9992868" cy="352044"/>
              <a:chOff x="905256" y="2377440"/>
              <a:chExt cx="9992868" cy="352044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905256" y="23774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准备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2657856" y="23774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定位与抓取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410456" y="23774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核实与消歧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163056" y="23774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获取与转化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915656" y="23774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成稿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668256" y="237744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图谱与交付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72084" y="3328035"/>
              <a:ext cx="7886649" cy="1061466"/>
              <a:chOff x="672084" y="3328035"/>
              <a:chExt cx="7886649" cy="106146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672084" y="3328035"/>
                <a:ext cx="366217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不是「再查一遍文献」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72084" y="3861435"/>
                <a:ext cx="7886649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而是围绕一位作者做完</a:t>
                </a:r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核实 → 获取 → 解读 → 成稿</a:t>
                </a:r>
              </a:p>
            </p:txBody>
          </p:sp>
        </p:grpSp>
      </p:grpSp>
      <p:grpSp>
        <p:nvGrpSpPr>
          <p:cNvPr id="47" name="stage-note"/>
          <p:cNvGrpSpPr/>
          <p:nvPr/>
        </p:nvGrpSpPr>
        <p:grpSpPr>
          <a:xfrm>
            <a:off x="676656" y="5200650"/>
            <a:ext cx="10829544" cy="1014984"/>
            <a:chOff x="676656" y="5200650"/>
            <a:chExt cx="10829544" cy="1014984"/>
          </a:xfrm>
        </p:grpSpPr>
        <p:sp>
          <p:nvSpPr>
            <p:cNvPr id="43" name="Line 43"/>
            <p:cNvSpPr/>
            <p:nvPr/>
          </p:nvSpPr>
          <p:spPr>
            <a:xfrm>
              <a:off x="685800" y="52006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656" y="5863590"/>
              <a:ext cx="77724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产出一份带证据链的作者成果材料：列表、全文、解读、方向综述与图谱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P1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1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获取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30" name="source-stack"/>
          <p:cNvGrpSpPr/>
          <p:nvPr/>
        </p:nvGrpSpPr>
        <p:grpSpPr>
          <a:xfrm>
            <a:off x="676656" y="1386840"/>
            <a:ext cx="10829544" cy="3185160"/>
            <a:chOff x="676656" y="1386840"/>
            <a:chExt cx="10829544" cy="3185160"/>
          </a:xfrm>
        </p:grpSpPr>
        <p:sp>
          <p:nvSpPr>
            <p:cNvPr id="12" name="TextBox 12"/>
            <p:cNvSpPr txBox="1"/>
            <p:nvPr/>
          </p:nvSpPr>
          <p:spPr>
            <a:xfrm>
              <a:off x="676656" y="13868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三个来源互相补齐，任何一个单独用都会漏人或混入他人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85800" y="1828800"/>
              <a:ext cx="4762500" cy="2743200"/>
              <a:chOff x="685800" y="1828800"/>
              <a:chExt cx="4762500" cy="2743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1828800"/>
                <a:ext cx="4762500" cy="838200"/>
              </a:xfrm>
              <a:prstGeom prst="roundRect">
                <a:avLst>
                  <a:gd name="adj" fmla="val 4545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85800" y="2781300"/>
                <a:ext cx="4762500" cy="838200"/>
              </a:xfrm>
              <a:prstGeom prst="roundRect">
                <a:avLst>
                  <a:gd name="adj" fmla="val 4545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685800" y="3733800"/>
                <a:ext cx="4762500" cy="838200"/>
              </a:xfrm>
              <a:prstGeom prst="roundRect">
                <a:avLst>
                  <a:gd name="adj" fmla="val 4545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943356" y="1996440"/>
              <a:ext cx="2199132" cy="2257044"/>
              <a:chOff x="943356" y="1996440"/>
              <a:chExt cx="2199132" cy="225704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43356" y="199644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记录库（作者标识）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3356" y="2948940"/>
                <a:ext cx="195681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作者主页自述清单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3356" y="390144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开放学术图谱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943356" y="2301240"/>
              <a:ext cx="4137660" cy="1229499"/>
              <a:chOff x="943356" y="2301240"/>
              <a:chExt cx="4137660" cy="1229499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43356" y="230124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可能有重复条目，也可能完全没有同步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43356" y="3253740"/>
                <a:ext cx="2308324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实验室主页收录代表作</a:t>
                </a:r>
                <a:endPara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5448300" y="3200400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200" y="0"/>
                  </a:lnTo>
                </a:path>
              </a:pathLst>
            </a:custGeom>
            <a:noFill/>
            <a:ln w="7620">
              <a:solidFill>
                <a:srgbClr val="5A6B73"/>
              </a:solidFill>
              <a:prstDash val="dash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81800" y="2438400"/>
              <a:ext cx="4724400" cy="1524000"/>
            </a:xfrm>
            <a:prstGeom prst="roundRect">
              <a:avLst>
                <a:gd name="adj" fmla="val 2500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34784" y="260413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去重后的权威成果总表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39356" y="3139440"/>
              <a:ext cx="35561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逐条核实期刊 / 年 / 卷 / 期 / 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9356" y="3501390"/>
              <a:ext cx="230832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符合参考文献著录规范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verify-note"/>
          <p:cNvGrpSpPr/>
          <p:nvPr/>
        </p:nvGrpSpPr>
        <p:grpSpPr>
          <a:xfrm>
            <a:off x="676656" y="4914900"/>
            <a:ext cx="10829544" cy="1053084"/>
            <a:chOff x="676656" y="4914900"/>
            <a:chExt cx="10829544" cy="1053084"/>
          </a:xfrm>
        </p:grpSpPr>
        <p:sp>
          <p:nvSpPr>
            <p:cNvPr id="31" name="Line 31"/>
            <p:cNvSpPr/>
            <p:nvPr/>
          </p:nvSpPr>
          <p:spPr>
            <a:xfrm>
              <a:off x="685800" y="49149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6656" y="56159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单一来源各有缺口：记录库重复或缺失，聚合库过度合并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P1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2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输出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  <p:grpSp>
        <p:nvGrpSpPr>
          <p:cNvPr id="37" name="output-columns"/>
          <p:cNvGrpSpPr/>
          <p:nvPr/>
        </p:nvGrpSpPr>
        <p:grpSpPr>
          <a:xfrm>
            <a:off x="685800" y="1828800"/>
            <a:ext cx="10820400" cy="2590800"/>
            <a:chOff x="685800" y="1828800"/>
            <a:chExt cx="10820400" cy="2590800"/>
          </a:xfrm>
        </p:grpSpPr>
        <p:grpSp>
          <p:nvGrpSpPr>
            <p:cNvPr id="16" name="Group 16"/>
            <p:cNvGrpSpPr/>
            <p:nvPr/>
          </p:nvGrpSpPr>
          <p:grpSpPr>
            <a:xfrm>
              <a:off x="685800" y="1828800"/>
              <a:ext cx="10820400" cy="2590800"/>
              <a:chOff x="685800" y="1828800"/>
              <a:chExt cx="10820400" cy="25908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85800" y="1828800"/>
                <a:ext cx="3390900" cy="2590800"/>
              </a:xfrm>
              <a:prstGeom prst="roundRect">
                <a:avLst>
                  <a:gd name="adj" fmla="val 1471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4400550" y="1828800"/>
                <a:ext cx="3390900" cy="2590800"/>
              </a:xfrm>
              <a:prstGeom prst="roundRect">
                <a:avLst>
                  <a:gd name="adj" fmla="val 1471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8115300" y="1828800"/>
                <a:ext cx="3390900" cy="2590800"/>
              </a:xfrm>
              <a:prstGeom prst="roundRect">
                <a:avLst>
                  <a:gd name="adj" fmla="val 1471"/>
                </a:avLst>
              </a:prstGeom>
              <a:solidFill>
                <a:schemeClr val="lt1"/>
              </a:solidFill>
              <a:ln w="11430">
                <a:solidFill>
                  <a:srgbClr val="5A6B73"/>
                </a:solidFill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938784" y="2108835"/>
              <a:ext cx="8910828" cy="528066"/>
              <a:chOff x="938784" y="2108835"/>
              <a:chExt cx="8910828" cy="528066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938784" y="2108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最终列表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3534" y="2108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方向综述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368284" y="2108835"/>
                <a:ext cx="148132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知识图谱</a:t>
                </a:r>
              </a:p>
            </p:txBody>
          </p:sp>
        </p:grpSp>
        <p:sp>
          <p:nvSpPr>
            <p:cNvPr id="21" name="Line 21"/>
            <p:cNvSpPr/>
            <p:nvPr/>
          </p:nvSpPr>
          <p:spPr>
            <a:xfrm>
              <a:off x="952500" y="26479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4667250" y="26479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382000" y="26479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43356" y="2872740"/>
              <a:ext cx="9923069" cy="1487805"/>
              <a:chOff x="943356" y="2872740"/>
              <a:chExt cx="9923069" cy="148780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43356" y="2872740"/>
                <a:ext cx="1993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去重 + 相关性整理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43356" y="3234690"/>
                <a:ext cx="171450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剔除项逐条留档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44880" y="3800475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为什么：宁可多留，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44880" y="406717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也不静默丢掉线索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658106" y="28727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每个方向给最紧密综述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658106" y="3234690"/>
                <a:ext cx="27201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已确认结论 + 未解决问题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59630" y="3800475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术语都做解释，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59630" y="4067175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面向没有科研经验的读者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72856" y="2872740"/>
                <a:ext cx="24414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总览：按主题聚类上色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372856" y="323469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词云：聚焦研究方法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372856" y="3577590"/>
                <a:ext cx="249356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方向聚类：近 N 年热点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74380" y="4067175"/>
                <a:ext cx="20345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剔除模型生物与泛化词</a:t>
                </a:r>
              </a:p>
            </p:txBody>
          </p:sp>
        </p:grpSp>
      </p:grpSp>
      <p:grpSp>
        <p:nvGrpSpPr>
          <p:cNvPr id="43" name="qc-note"/>
          <p:cNvGrpSpPr/>
          <p:nvPr/>
        </p:nvGrpSpPr>
        <p:grpSpPr>
          <a:xfrm>
            <a:off x="672084" y="4876800"/>
            <a:ext cx="10834116" cy="543133"/>
            <a:chOff x="672084" y="4876800"/>
            <a:chExt cx="10834116" cy="543133"/>
          </a:xfrm>
        </p:grpSpPr>
        <p:sp>
          <p:nvSpPr>
            <p:cNvPr id="38" name="Line 38"/>
            <p:cNvSpPr/>
            <p:nvPr/>
          </p:nvSpPr>
          <p:spPr>
            <a:xfrm>
              <a:off x="685800" y="48768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2084" y="5004435"/>
              <a:ext cx="2769989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从图谱到研究前景</a:t>
              </a:r>
              <a:endParaRPr lang="zh-CN" sz="27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grpSp>
        <p:nvGrpSpPr>
          <p:cNvPr id="11" name="page-furniture"/>
          <p:cNvGrpSpPr/>
          <p:nvPr/>
        </p:nvGrpSpPr>
        <p:grpSpPr>
          <a:xfrm>
            <a:off x="0" y="450532"/>
            <a:ext cx="12192000" cy="625793"/>
            <a:chOff x="0" y="450532"/>
            <a:chExt cx="12192000" cy="625793"/>
          </a:xfrm>
        </p:grpSpPr>
        <p:sp>
          <p:nvSpPr>
            <p:cNvPr id="6" name="Line 6"/>
            <p:cNvSpPr/>
            <p:nvPr/>
          </p:nvSpPr>
          <p:spPr>
            <a:xfrm>
              <a:off x="0" y="10668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7418" y="450532"/>
              <a:ext cx="112530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P1</a:t>
              </a:r>
              <a:r>
                <a:rPr lang="en-US" alt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3</a:t>
              </a:r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 · 交付</a:t>
              </a:r>
            </a:p>
          </p:txBody>
        </p:sp>
      </p:grpSp>
      <p:grpSp>
        <p:nvGrpSpPr>
          <p:cNvPr id="27" name="deliverables"/>
          <p:cNvGrpSpPr/>
          <p:nvPr/>
        </p:nvGrpSpPr>
        <p:grpSpPr>
          <a:xfrm>
            <a:off x="685800" y="1562100"/>
            <a:ext cx="10820400" cy="3009900"/>
            <a:chOff x="685800" y="1562100"/>
            <a:chExt cx="10820400" cy="3009900"/>
          </a:xfrm>
        </p:grpSpPr>
        <p:sp>
          <p:nvSpPr>
            <p:cNvPr id="12" name="Rectangle 12"/>
            <p:cNvSpPr/>
            <p:nvPr/>
          </p:nvSpPr>
          <p:spPr>
            <a:xfrm>
              <a:off x="685800" y="1562100"/>
              <a:ext cx="5219700" cy="3009900"/>
            </a:xfrm>
            <a:prstGeom prst="roundRect">
              <a:avLst>
                <a:gd name="adj" fmla="val 1266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1562100"/>
              <a:ext cx="5219700" cy="3009900"/>
            </a:xfrm>
            <a:prstGeom prst="roundRect">
              <a:avLst>
                <a:gd name="adj" fmla="val 1266"/>
              </a:avLst>
            </a:prstGeom>
            <a:solidFill>
              <a:schemeClr val="lt1"/>
            </a:solidFill>
            <a:ln w="11430">
              <a:solidFill>
                <a:srgbClr val="5A6B7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8784" y="1727835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入门交付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39484" y="1727835"/>
              <a:ext cx="1384995" cy="415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深挖交付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943356" y="2301240"/>
              <a:ext cx="10059314" cy="2028444"/>
              <a:chOff x="943356" y="2301240"/>
              <a:chExt cx="10059314" cy="2028444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943356" y="2301240"/>
                <a:ext cx="389534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方向与关键词计划：中英双语检索词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43356" y="2720340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分方向的导师名单：带主页链接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3356" y="3139440"/>
                <a:ext cx="42588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6–12 篇优质综述清单：含开放获取链接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43356" y="3558540"/>
                <a:ext cx="324109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领域概貌：概念 + 共识 + 争议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43356" y="3977640"/>
                <a:ext cx="31683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　　+ 阅读顺序 + 可能切入点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544056" y="2301240"/>
                <a:ext cx="445861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规范著录的论文列表：含 DOI 与原文链接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544056" y="2720340"/>
                <a:ext cx="41376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全文获取清单：逐篇状态与未获取原因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544056" y="3139440"/>
                <a:ext cx="320474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逐篇论文解读 / 研究方向综述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44056" y="3558540"/>
                <a:ext cx="421035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知识图谱三张：总览 / 词云 / 方向聚类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44056" y="3977640"/>
                <a:ext cx="2213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可选：一份汇报 PPT</a:t>
                </a:r>
              </a:p>
            </p:txBody>
          </p:sp>
        </p:grpSp>
      </p:grpSp>
      <p:grpSp>
        <p:nvGrpSpPr>
          <p:cNvPr id="32" name="usage-note"/>
          <p:cNvGrpSpPr/>
          <p:nvPr/>
        </p:nvGrpSpPr>
        <p:grpSpPr>
          <a:xfrm>
            <a:off x="676656" y="5143500"/>
            <a:ext cx="10829544" cy="1388745"/>
            <a:chOff x="676656" y="5143500"/>
            <a:chExt cx="10829544" cy="1388745"/>
          </a:xfrm>
        </p:grpSpPr>
        <p:sp>
          <p:nvSpPr>
            <p:cNvPr id="28" name="Line 28"/>
            <p:cNvSpPr/>
            <p:nvPr/>
          </p:nvSpPr>
          <p:spPr>
            <a:xfrm>
              <a:off x="685800" y="51435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6656" y="5368290"/>
              <a:ext cx="94686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用法：名单直接用于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联系导师的邮件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；综述清单与领域概貌直接用于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开题报告或课程论文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6656" y="5768340"/>
              <a:ext cx="6970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每份产物都能溯到来源：DOI、主页链接、证据层级、未获取原因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8180" y="623887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交付时同时说明覆盖度：哪些拿到全文、哪些只有摘要、为什么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id"/>
          <p:cNvGrpSpPr/>
          <p:nvPr/>
        </p:nvGrpSpPr>
        <p:grpSpPr>
          <a:xfrm>
            <a:off x="2019300" y="0"/>
            <a:ext cx="6867525" cy="6858000"/>
            <a:chOff x="2019300" y="0"/>
            <a:chExt cx="6867525" cy="6858000"/>
          </a:xfrm>
        </p:grpSpPr>
        <p:sp>
          <p:nvSpPr>
            <p:cNvPr id="2" name="Line 2"/>
            <p:cNvSpPr/>
            <p:nvPr/>
          </p:nvSpPr>
          <p:spPr>
            <a:xfrm>
              <a:off x="2019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5448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8773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6">
                  <a:alpha val="40000"/>
                </a:schemeClr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677418" y="450532"/>
            <a:ext cx="1125308" cy="2539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P1</a:t>
            </a:r>
            <a:r>
              <a:rPr lang="en-US" alt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4</a:t>
            </a:r>
            <a:r>
              <a: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 ·</a:t>
            </a:r>
            <a:r>
              <a:rPr lang="en-US" alt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lang="zh-CN" altLang="en-US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rPr>
              <a:t>总结</a:t>
            </a:r>
            <a:endParaRPr lang="zh-CN" sz="1650" dirty="0">
              <a:solidFill>
                <a:schemeClr val="accent5"/>
              </a:solidFill>
              <a:latin typeface="Consolas"/>
              <a:ea typeface="Microsoft YaHei"/>
              <a:cs typeface="Consolas"/>
            </a:endParaRPr>
          </a:p>
        </p:txBody>
      </p:sp>
      <p:grpSp>
        <p:nvGrpSpPr>
          <p:cNvPr id="24" name="spine"/>
          <p:cNvGrpSpPr/>
          <p:nvPr/>
        </p:nvGrpSpPr>
        <p:grpSpPr>
          <a:xfrm>
            <a:off x="952500" y="2276475"/>
            <a:ext cx="10321290" cy="1234059"/>
            <a:chOff x="952500" y="2276475"/>
            <a:chExt cx="10321290" cy="1234059"/>
          </a:xfrm>
        </p:grpSpPr>
        <p:sp>
          <p:nvSpPr>
            <p:cNvPr id="11" name="Line 11"/>
            <p:cNvSpPr/>
            <p:nvPr/>
          </p:nvSpPr>
          <p:spPr>
            <a:xfrm>
              <a:off x="952500" y="2857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819275" y="277177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6010275" y="2771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0201275" y="2771775"/>
              <a:ext cx="171450" cy="17145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419606" y="3158490"/>
              <a:ext cx="9854184" cy="352044"/>
              <a:chOff x="1419606" y="3158490"/>
              <a:chExt cx="9854184" cy="35204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419606" y="315849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一句话意向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67756" y="31584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可核对的证据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801606" y="3158490"/>
                <a:ext cx="14721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可交付的材料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1421130" y="2276475"/>
              <a:ext cx="9101328" cy="293370"/>
              <a:chOff x="1421130" y="2276475"/>
              <a:chExt cx="9101328" cy="29337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421130" y="2276475"/>
                <a:ext cx="6019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INPUT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669280" y="2276475"/>
                <a:ext cx="9540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EVIDENCE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03130" y="2276475"/>
                <a:ext cx="719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OUTPUT</a:t>
                </a:r>
              </a:p>
            </p:txBody>
          </p:sp>
        </p:grpSp>
      </p:grpSp>
      <p:grpSp>
        <p:nvGrpSpPr>
          <p:cNvPr id="29" name="closing"/>
          <p:cNvGrpSpPr/>
          <p:nvPr/>
        </p:nvGrpSpPr>
        <p:grpSpPr>
          <a:xfrm>
            <a:off x="677418" y="4572000"/>
            <a:ext cx="10828782" cy="1333098"/>
            <a:chOff x="677418" y="4572000"/>
            <a:chExt cx="10828782" cy="1333098"/>
          </a:xfrm>
        </p:grpSpPr>
        <p:sp>
          <p:nvSpPr>
            <p:cNvPr id="25" name="Line 25"/>
            <p:cNvSpPr/>
            <p:nvPr/>
          </p:nvSpPr>
          <p:spPr>
            <a:xfrm>
              <a:off x="685800" y="45720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77418" y="5651182"/>
              <a:ext cx="2962349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本科生文献检索与科研辅助</a:t>
              </a:r>
              <a:r>
                <a:rPr lang="zh-CN" altLang="en-US" sz="1650" dirty="0">
                  <a:solidFill>
                    <a:schemeClr val="accent5"/>
                  </a:solidFill>
                  <a:latin typeface="Consolas"/>
                  <a:ea typeface="Microsoft YaHei"/>
                  <a:cs typeface="Consolas"/>
                </a:rPr>
                <a:t>工具</a:t>
              </a:r>
              <a:endParaRPr lang="zh-CN" sz="1650" dirty="0">
                <a:solidFill>
                  <a:schemeClr val="accent5"/>
                </a:solidFill>
                <a:latin typeface="Consolas"/>
                <a:ea typeface="Microsoft YaHei"/>
                <a:cs typeface="Consola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flow1-overview">
  <a:themeElements>
    <a:clrScheme name="flow1-overview">
      <a:dk1>
        <a:srgbClr val="1B2A32"/>
      </a:dk1>
      <a:lt1>
        <a:srgbClr val="FFFFFF"/>
      </a:lt1>
      <a:dk2>
        <a:srgbClr val="1F497D"/>
      </a:dk2>
      <a:lt2>
        <a:srgbClr val="F3F6F8"/>
      </a:lt2>
      <a:accent1>
        <a:srgbClr val="0F4C5C"/>
      </a:accent1>
      <a:accent2>
        <a:srgbClr val="F09A00"/>
      </a:accent2>
      <a:accent3>
        <a:srgbClr val="3E8E7E"/>
      </a:accent3>
      <a:accent4>
        <a:srgbClr val="0F4C5C"/>
      </a:accent4>
      <a:accent5>
        <a:srgbClr val="5A6B73"/>
      </a:accent5>
      <a:accent6>
        <a:srgbClr val="D6DEE3"/>
      </a:accent6>
      <a:hlink>
        <a:srgbClr val="F09A00"/>
      </a:hlink>
      <a:folHlink>
        <a:srgbClr val="3E8E7E"/>
      </a:folHlink>
    </a:clrScheme>
    <a:fontScheme name="flow1-over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low1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low1-overview">
  <a:themeElements>
    <a:clrScheme name="flow1-overview">
      <a:dk1>
        <a:srgbClr val="1B2A32"/>
      </a:dk1>
      <a:lt1>
        <a:srgbClr val="FFFFFF"/>
      </a:lt1>
      <a:dk2>
        <a:srgbClr val="1F497D"/>
      </a:dk2>
      <a:lt2>
        <a:srgbClr val="F3F6F8"/>
      </a:lt2>
      <a:accent1>
        <a:srgbClr val="0F4C5C"/>
      </a:accent1>
      <a:accent2>
        <a:srgbClr val="F09A00"/>
      </a:accent2>
      <a:accent3>
        <a:srgbClr val="3E8E7E"/>
      </a:accent3>
      <a:accent4>
        <a:srgbClr val="0F4C5C"/>
      </a:accent4>
      <a:accent5>
        <a:srgbClr val="5A6B73"/>
      </a:accent5>
      <a:accent6>
        <a:srgbClr val="D6DEE3"/>
      </a:accent6>
      <a:hlink>
        <a:srgbClr val="F09A00"/>
      </a:hlink>
      <a:folHlink>
        <a:srgbClr val="3E8E7E"/>
      </a:folHlink>
    </a:clrScheme>
    <a:fontScheme name="flow1-overview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low1-over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4065</Words>
  <Application>Microsoft Office PowerPoint</Application>
  <PresentationFormat>宽屏</PresentationFormat>
  <Paragraphs>300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Consolas</vt:lpstr>
      <vt:lpstr>flow1-overview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Initial Wang</cp:lastModifiedBy>
  <cp:revision>3</cp:revision>
  <dcterms:created xsi:type="dcterms:W3CDTF">2026-10-06T09:13:08Z</dcterms:created>
  <dcterms:modified xsi:type="dcterms:W3CDTF">2026-10-06T09:45:19Z</dcterms:modified>
  <cp:category/>
  <cp:contentStatus/>
  <dc:language>zh-CN</dc:language>
</cp:coreProperties>
</file>